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Play"/>
      <p:regular r:id="rId24"/>
      <p:bold r:id="rId25"/>
    </p:embeddedFont>
    <p:embeddedFont>
      <p:font typeface="Heebo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4AE85A-1586-455C-AC25-2AD18CD714B1}">
  <a:tblStyle styleId="{B74AE85A-1586-455C-AC25-2AD18CD714B1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F082C2B5-E93D-4938-869A-B7AF669F3FA7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1C14B13-449E-4406-AC54-BA030F6BC230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29C8CEA6-0556-4FF9-A292-E26ED8BECE49}" styleName="Table_3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1">
              <a:alpha val="40000"/>
            </a:schemeClr>
          </a:solidFill>
        </a:fill>
      </a:tcStyle>
    </a:band1H>
    <a:band2H>
      <a:tcTxStyle/>
    </a:band2H>
    <a:band1V>
      <a:tcTxStyle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l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ebo-regular.fntdata"/><Relationship Id="rId25" Type="http://schemas.openxmlformats.org/officeDocument/2006/relationships/font" Target="fonts/Play-bold.fntdata"/><Relationship Id="rId27" Type="http://schemas.openxmlformats.org/officeDocument/2006/relationships/font" Target="fonts/Heeb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1275"/>
            <a:ext cx="1219200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b="1" sz="2000">
                <a:solidFill>
                  <a:srgbClr val="17365D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:\Users\AMMU\Desktop\Border.png" id="55" name="Google Shape;5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b="1" i="0" sz="28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cap="flat" cmpd="thickThin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">
            <a:alphaModFix/>
          </a:blip>
          <a:srcRect b="18046" l="0" r="0" t="0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6.jpg"/><Relationship Id="rId5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2887" y="-20500"/>
            <a:ext cx="12264887" cy="689899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11396678" y="454968"/>
            <a:ext cx="162863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283" y="380240"/>
            <a:ext cx="1378341" cy="298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6440771"/>
            <a:ext cx="12192000" cy="4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1781615" y="52673"/>
            <a:ext cx="7779000" cy="13095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4"/>
          <p:cNvSpPr/>
          <p:nvPr/>
        </p:nvSpPr>
        <p:spPr>
          <a:xfrm>
            <a:off x="-72888" y="5569149"/>
            <a:ext cx="12264887" cy="1309350"/>
          </a:xfrm>
          <a:prstGeom prst="roundRect">
            <a:avLst>
              <a:gd fmla="val 16667" name="adj"/>
            </a:avLst>
          </a:prstGeom>
          <a:solidFill>
            <a:srgbClr val="0822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4748252" y="5447308"/>
            <a:ext cx="2860077" cy="769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Presidency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4837363" y="6139774"/>
            <a:ext cx="2646802" cy="45719"/>
          </a:xfrm>
          <a:prstGeom prst="rect">
            <a:avLst/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2353623" y="6178261"/>
            <a:ext cx="79612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School of Computer Science and Engineering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 flipH="1" rot="10800000">
            <a:off x="2477862" y="6717317"/>
            <a:ext cx="7712764" cy="45719"/>
          </a:xfrm>
          <a:prstGeom prst="rect">
            <a:avLst/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3868080" y="1168079"/>
            <a:ext cx="464903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Play"/>
                <a:ea typeface="Play"/>
                <a:cs typeface="Play"/>
                <a:sym typeface="Play"/>
              </a:rPr>
              <a:t>Mini Project (CSE7102)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Play"/>
                <a:ea typeface="Play"/>
                <a:cs typeface="Play"/>
                <a:sym typeface="Play"/>
              </a:rPr>
              <a:t>REVIEW-2</a:t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Play"/>
                <a:ea typeface="Play"/>
                <a:cs typeface="Play"/>
                <a:sym typeface="Play"/>
              </a:rPr>
              <a:t>29-08-2026</a:t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type="ctrTitle"/>
          </p:nvPr>
        </p:nvSpPr>
        <p:spPr>
          <a:xfrm>
            <a:off x="751140" y="1136427"/>
            <a:ext cx="10363200" cy="8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Camera-Based Automated Public Lighting with Motion Detection and Zone-Based Adaptive Control Using ESP32-CAM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6" name="Google Shape;106;p15"/>
          <p:cNvSpPr txBox="1"/>
          <p:nvPr>
            <p:ph idx="1" type="subTitle"/>
          </p:nvPr>
        </p:nvSpPr>
        <p:spPr>
          <a:xfrm>
            <a:off x="553347" y="170935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Project ID: PRJ_306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107" name="Google Shape;107;p15"/>
          <p:cNvGraphicFramePr/>
          <p:nvPr/>
        </p:nvGraphicFramePr>
        <p:xfrm>
          <a:off x="553347" y="27218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{B74AE85A-1586-455C-AC25-2AD18CD714B1}</a:tableStyleId>
              </a:tblPr>
              <a:tblGrid>
                <a:gridCol w="2085000"/>
                <a:gridCol w="3333675"/>
              </a:tblGrid>
              <a:tr h="306250">
                <a:tc>
                  <a:txBody>
                    <a:bodyPr/>
                    <a:lstStyle/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>
                        <a:solidFill>
                          <a:srgbClr val="17365D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>
                        <a:solidFill>
                          <a:srgbClr val="17365D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" name="Google Shape;108;p15"/>
          <p:cNvSpPr txBox="1"/>
          <p:nvPr/>
        </p:nvSpPr>
        <p:spPr>
          <a:xfrm>
            <a:off x="6754252" y="241872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Under the Supervision of,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Mr.Mohaideen A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Assistant Professor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School of Computer Science and Engineering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Presidency University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3986771" y="288369"/>
            <a:ext cx="5425083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CSS7102- Mini  Project Review-2</a:t>
            </a:r>
            <a:endParaRPr b="1" i="0" sz="2000" u="none" cap="none" strike="noStrike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10391" y="4533900"/>
            <a:ext cx="11994495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Program: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Computer Science and Engineering</a:t>
            </a:r>
            <a:endParaRPr b="1" i="0" sz="2000" u="none" cap="none" strike="noStrike">
              <a:solidFill>
                <a:schemeClr val="accen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HoD 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Dr. Asif Mohammed</a:t>
            </a:r>
            <a:endParaRPr b="1" i="0" sz="2000" u="none" cap="none" strike="noStrike">
              <a:solidFill>
                <a:schemeClr val="accen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Program Project Coordinator: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Dr. Jayavadivel Ravi</a:t>
            </a:r>
            <a:endParaRPr b="1" i="0" sz="2000" u="none" cap="none" strike="noStrike">
              <a:solidFill>
                <a:schemeClr val="accen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School Project Coordinators: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Mr. Muthuraju V</a:t>
            </a:r>
            <a:endParaRPr b="1" i="0" sz="2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111" name="Google Shape;111;p15"/>
          <p:cNvGraphicFramePr/>
          <p:nvPr/>
        </p:nvGraphicFramePr>
        <p:xfrm>
          <a:off x="429369" y="2820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{F082C2B5-E93D-4938-869A-B7AF669F3FA7}</a:tableStyleId>
              </a:tblPr>
              <a:tblGrid>
                <a:gridCol w="642350"/>
                <a:gridCol w="2914200"/>
                <a:gridCol w="1986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Sl.No</a:t>
                      </a:r>
                      <a:endParaRPr b="1"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Student Name</a:t>
                      </a:r>
                      <a:endParaRPr b="1"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Roll Number</a:t>
                      </a:r>
                      <a:endParaRPr b="1"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Murali M </a:t>
                      </a:r>
                      <a:r>
                        <a:rPr b="1" lang="en-US"/>
                        <a:t>N</a:t>
                      </a:r>
                      <a:r>
                        <a:rPr b="1" lang="en-US" sz="1400" u="none" cap="none" strike="noStrike"/>
                        <a:t>aik</a:t>
                      </a:r>
                      <a:endParaRPr b="1"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20241CSE3011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Tejas H M</a:t>
                      </a:r>
                      <a:endParaRPr b="1"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20231CSE0211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Mohith B E</a:t>
                      </a:r>
                      <a:endParaRPr b="1"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20231CSE0248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2" name="Google Shape;112;p15"/>
          <p:cNvSpPr txBox="1"/>
          <p:nvPr/>
        </p:nvSpPr>
        <p:spPr>
          <a:xfrm>
            <a:off x="429369" y="2330214"/>
            <a:ext cx="61599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Group members details: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668155" y="170935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Panel No:18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INDEX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9" name="Google Shape;119;p16"/>
          <p:cNvSpPr txBox="1"/>
          <p:nvPr>
            <p:ph idx="1" type="body"/>
          </p:nvPr>
        </p:nvSpPr>
        <p:spPr>
          <a:xfrm>
            <a:off x="812800" y="1143001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/>
              <a:t>Problem statement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/>
              <a:t>Objectives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/>
              <a:t>Literature/research understanding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/>
              <a:t>Methodology and architecture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/>
              <a:t>Implementation progress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/>
              <a:t>Individual contribution</a:t>
            </a:r>
            <a:endParaRPr/>
          </a:p>
          <a:p>
            <a:pPr indent="-190500" lvl="0" marL="4953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4953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>
                <a:solidFill>
                  <a:srgbClr val="17365D"/>
                </a:solidFill>
              </a:rPr>
              <a:t>Problem Statement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125" name="Google Shape;125;p17"/>
          <p:cNvGraphicFramePr/>
          <p:nvPr/>
        </p:nvGraphicFramePr>
        <p:xfrm>
          <a:off x="8128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{01C14B13-449E-4406-AC54-BA030F6BC230}</a:tableStyleId>
              </a:tblPr>
              <a:tblGrid>
                <a:gridCol w="2668000"/>
                <a:gridCol w="2200000"/>
                <a:gridCol w="5800000"/>
              </a:tblGrid>
              <a:tr h="42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Problem Statement No.</a:t>
                      </a:r>
                      <a:endParaRPr/>
                    </a:p>
                  </a:txBody>
                  <a:tcPr marT="36575" marB="36575" marR="64000" marL="64000" anchor="ctr"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Category</a:t>
                      </a:r>
                      <a:endParaRPr/>
                    </a:p>
                  </a:txBody>
                  <a:tcPr marT="36575" marB="36575" marR="64000" marL="64000" anchor="ctr"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Technologies Used</a:t>
                      </a:r>
                      <a:endParaRPr/>
                    </a:p>
                  </a:txBody>
                  <a:tcPr marT="36575" marB="36575" marR="64000" marL="64000" anchor="ctr"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365D"/>
                    </a:solidFill>
                  </a:tcPr>
                </a:tc>
              </a:tr>
              <a:tr h="53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PRJ_306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Hardware &amp; Software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Artificial Intelligence, ESP32, Cloud Computing</a:t>
                      </a:r>
                      <a:endParaRPr/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6" name="Google Shape;126;p17"/>
          <p:cNvSpPr txBox="1"/>
          <p:nvPr/>
        </p:nvSpPr>
        <p:spPr>
          <a:xfrm>
            <a:off x="762000" y="2213000"/>
            <a:ext cx="10668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Problem Description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812800" y="2473850"/>
            <a:ext cx="106680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00">
                <a:latin typeface="Cambria"/>
                <a:ea typeface="Cambria"/>
                <a:cs typeface="Cambria"/>
                <a:sym typeface="Cambria"/>
              </a:rPr>
              <a:t>Conventional public lighting systems typically operate on rigid timer schedules or basic sensor-based switching, leaving streetlights fully illuminated long after traffic has cleared. This static approach leads to excessive energy waste, poor adaptability to live traffic flow, and a lack of real-time visibility across distributed lighting infrastructure. 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00">
                <a:latin typeface="Cambria"/>
                <a:ea typeface="Cambria"/>
                <a:cs typeface="Cambria"/>
                <a:sym typeface="Cambria"/>
              </a:rPr>
              <a:t>This work presents an automated public lighting system designed to detect road activity using embedded intelligence and targeted sensing. The node maintains a low-power standby state during quiet periods, immediately ramps up brightness in active zones upon detecting movement, and smoothly dims trailing lights behind moving targets. To complement edge-level control, cloud-based data logging provides system-wide visibility, long-term operational analytics, and scalable remote monitoring.</a:t>
            </a:r>
            <a:endParaRPr b="0" i="0" sz="13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9480800" y="5676000"/>
            <a:ext cx="2000000" cy="420000"/>
          </a:xfrm>
          <a:prstGeom prst="roundRect">
            <a:avLst>
              <a:gd fmla="val 50000" name="adj"/>
            </a:avLst>
          </a:prstGeom>
          <a:solidFill>
            <a:srgbClr val="17365D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Difficulty Level:  Medium</a:t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812800" y="4300000"/>
            <a:ext cx="2569500" cy="1050000"/>
          </a:xfrm>
          <a:prstGeom prst="roundRect">
            <a:avLst>
              <a:gd fmla="val 6000" name="adj"/>
            </a:avLst>
          </a:prstGeom>
          <a:solidFill>
            <a:srgbClr val="F2F2F2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91425" spcFirstLastPara="1" rIns="91425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Performance</a:t>
            </a:r>
            <a:endParaRPr b="1" i="0" sz="1300" u="none" cap="none" strike="noStrike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Improve responsiveness, reliability and operational efficiency of public lighting.</a:t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3512300" y="4300000"/>
            <a:ext cx="2569500" cy="1050000"/>
          </a:xfrm>
          <a:prstGeom prst="roundRect">
            <a:avLst>
              <a:gd fmla="val 6000" name="adj"/>
            </a:avLst>
          </a:prstGeom>
          <a:solidFill>
            <a:srgbClr val="F2F2F2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91425" spcFirstLastPara="1" rIns="91425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Security</a:t>
            </a:r>
            <a:endParaRPr/>
          </a:p>
          <a:p>
            <a:pPr indent="0" lvl="0" marL="0" marR="0" rtl="0" algn="ctr">
              <a:lnSpc>
                <a:spcPct val="17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Support secure system operation, reliable communication and protection against unauthorized access.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6211800" y="4300000"/>
            <a:ext cx="2569500" cy="1050000"/>
          </a:xfrm>
          <a:prstGeom prst="roundRect">
            <a:avLst>
              <a:gd fmla="val 6000" name="adj"/>
            </a:avLst>
          </a:prstGeom>
          <a:solidFill>
            <a:srgbClr val="F2F2F2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91425" spcFirstLastPara="1" rIns="91425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Scalability</a:t>
            </a:r>
            <a:endParaRPr/>
          </a:p>
          <a:p>
            <a:pPr indent="0" lvl="0" marL="0" marR="0" rtl="0" algn="ctr">
              <a:lnSpc>
                <a:spcPct val="17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Design so the solution can expand from prototype to multiple units and locations.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8911300" y="4300000"/>
            <a:ext cx="2569500" cy="1050000"/>
          </a:xfrm>
          <a:prstGeom prst="roundRect">
            <a:avLst>
              <a:gd fmla="val 6000" name="adj"/>
            </a:avLst>
          </a:prstGeom>
          <a:solidFill>
            <a:srgbClr val="F2F2F2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91425" spcFirstLastPara="1" rIns="91425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Automation</a:t>
            </a:r>
            <a:endParaRPr b="1" i="0" sz="1300" u="none" cap="none" strike="noStrike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7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Reduce manual operation by enabling lighting to respond automatically to relevant conditions.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2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/>
          </a:p>
        </p:txBody>
      </p:sp>
      <p:sp>
        <p:nvSpPr>
          <p:cNvPr id="138" name="Google Shape;138;p18"/>
          <p:cNvSpPr txBox="1"/>
          <p:nvPr>
            <p:ph idx="1" type="body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To detect vehicles and pedestrians</a:t>
            </a:r>
            <a:r>
              <a:rPr lang="en-US"/>
              <a:t> using camera/sensor inputs and identify the lighting zone requiring illumination.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To automatically control LED street-light intensity</a:t>
            </a:r>
            <a:r>
              <a:rPr lang="en-US"/>
              <a:t> according to ambient light conditions and detected road activity.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To reduce unnecessary energy consumption</a:t>
            </a:r>
            <a:r>
              <a:rPr lang="en-US"/>
              <a:t> by maintaining low-intensity standby lighting and increasing brightness only in the required zone.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To implement ESP32-based adaptive lighting control</a:t>
            </a:r>
            <a:r>
              <a:rPr lang="en-US"/>
              <a:t> that increases brightness in the detected zone and gradually reduces lighting after the moving object passes.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To enable cloud-based monitoring and data storage</a:t>
            </a:r>
            <a:r>
              <a:rPr lang="en-US"/>
              <a:t> of lighting and activity information for system monitoring, analysis, and future scalability.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2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17365D"/>
                </a:solidFill>
              </a:rPr>
              <a:t>Literature Review</a:t>
            </a:r>
            <a:endParaRPr/>
          </a:p>
        </p:txBody>
      </p:sp>
      <p:graphicFrame>
        <p:nvGraphicFramePr>
          <p:cNvPr id="144" name="Google Shape;144;p19"/>
          <p:cNvGraphicFramePr/>
          <p:nvPr/>
        </p:nvGraphicFramePr>
        <p:xfrm>
          <a:off x="812800" y="122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{01C14B13-449E-4406-AC54-BA030F6BC230}</a:tableStyleId>
              </a:tblPr>
              <a:tblGrid>
                <a:gridCol w="2150000"/>
                <a:gridCol w="2350000"/>
                <a:gridCol w="3084000"/>
                <a:gridCol w="3084000"/>
              </a:tblGrid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Study</a:t>
                      </a:r>
                      <a:endParaRPr/>
                    </a:p>
                  </a:txBody>
                  <a:tcPr marT="36575" marB="36575" marR="64000" marL="64000" anchor="ctr"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Technology / Focus</a:t>
                      </a:r>
                      <a:endParaRPr/>
                    </a:p>
                  </a:txBody>
                  <a:tcPr marT="36575" marB="36575" marR="64000" marL="64000" anchor="ctr"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Findings</a:t>
                      </a:r>
                      <a:endParaRPr/>
                    </a:p>
                  </a:txBody>
                  <a:tcPr marT="36575" marB="36575" marR="64000" marL="64000" anchor="ctr"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Limitation / Opportunity</a:t>
                      </a:r>
                      <a:endParaRPr/>
                    </a:p>
                  </a:txBody>
                  <a:tcPr marT="36575" marB="36575" marR="64000" marL="64000" anchor="ctr"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5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Lau et al., 2015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Traffic-based smart lighting using sensors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Detects vehicles/people and automatically changes light brightness.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Mainly tested in simulation; needs a real AI-based prototype.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85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Abdullah et al., 2019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LDR + IR sensor + LED + controller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Automatically controls street-lights and helps save energy.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Uses basic sensors; limited understanding of objects on the road.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5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Rajan et al., 2019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NodeMCU + LDR + IR + IoT/Cloud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Turns lights ON/OFF based on light conditions and object detection.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Cannot identify the type or exact location of road users.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85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Sahin &amp; İbiloğlu, 2018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Arduino + LDR + IR sensors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Changes lighting based on day/night and detected objects.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Uses IR detection instead of computer vision; limited awareness.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5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Roshan &amp; Rishi, 2019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Arduino + LDR + IR + Wi-Fi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Combines day/night detection with remote monitoring.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Mainly sensor-based; lacks intelligent AI-based decision-making.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17365D"/>
                </a:solidFill>
              </a:rPr>
              <a:t>Literature Review (contd...)</a:t>
            </a:r>
            <a:endParaRPr/>
          </a:p>
        </p:txBody>
      </p:sp>
      <p:graphicFrame>
        <p:nvGraphicFramePr>
          <p:cNvPr id="150" name="Google Shape;150;p20"/>
          <p:cNvGraphicFramePr/>
          <p:nvPr/>
        </p:nvGraphicFramePr>
        <p:xfrm>
          <a:off x="367260" y="10329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{01C14B13-449E-4406-AC54-BA030F6BC230}</a:tableStyleId>
              </a:tblPr>
              <a:tblGrid>
                <a:gridCol w="3041075"/>
                <a:gridCol w="2326950"/>
                <a:gridCol w="3107050"/>
                <a:gridCol w="3084000"/>
              </a:tblGrid>
              <a:tr h="51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Study</a:t>
                      </a:r>
                      <a:endParaRPr/>
                    </a:p>
                  </a:txBody>
                  <a:tcPr marT="36575" marB="36575" marR="64000" marL="64000" anchor="ctr"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Technology / Focus</a:t>
                      </a:r>
                      <a:endParaRPr/>
                    </a:p>
                  </a:txBody>
                  <a:tcPr marT="36575" marB="36575" marR="64000" marL="64000" anchor="ctr"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Findings</a:t>
                      </a:r>
                      <a:endParaRPr/>
                    </a:p>
                  </a:txBody>
                  <a:tcPr marT="36575" marB="36575" marR="64000" marL="64000" anchor="ctr"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Limitation / Opportunity</a:t>
                      </a:r>
                      <a:endParaRPr/>
                    </a:p>
                  </a:txBody>
                  <a:tcPr marT="36575" marB="36575" marR="64000" marL="64000" anchor="ctr"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90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Sun et al., 2022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Wireless sensors + LoRa + NB-IoT + cloud + WebGIS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Developed a cloud-based street-light system for monitoring, visualization, fault alerts and control.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Focuses mainly on IoT management, not AI-based detection.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84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Balasubramanian et al.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Machine Learning + IoT + GSM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Studied ML and IoT for monitoring and controlling smart street-lights.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Communication and monitoring are the main focus; limited adaptive lighting based on local conditions.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4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IoT Smart Public Street Lighting Survey, 2024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IoT sensors + LED + communication + monitoring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Discusses automatic brightness control, connected sensors and centralized monitoring.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Points out challenges in integration, security, scalability and maintenance.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84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Singha Roy et al., 2025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ESP32 + LDR + environmental sensors + cloud logging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Demonstrated automatic lighting control using ESP32 and cloud-based data logging.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Mainly focuses on environmental sensing; opportunity to add AI for vehicle/pedestrian detection.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4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Adaptive Street Lighting Predictive Control, 2017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Smart camera + traffic analysis + predictive control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Used camera-based traffic information to adjust street lighting according to traffic conditions.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More complex approach; opportunity for a simpler system combining detection, adaptive lighting and cloud monitoring.</a:t>
                      </a:r>
                      <a:endParaRPr b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2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Methodology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6" name="Google Shape;156;p21"/>
          <p:cNvSpPr txBox="1"/>
          <p:nvPr>
            <p:ph idx="1" type="body"/>
          </p:nvPr>
        </p:nvSpPr>
        <p:spPr>
          <a:xfrm>
            <a:off x="482600" y="927100"/>
            <a:ext cx="10998200" cy="52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1905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953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The </a:t>
            </a:r>
            <a:r>
              <a:rPr b="1" lang="en-US"/>
              <a:t>LDR sensor</a:t>
            </a:r>
            <a:r>
              <a:rPr lang="en-US"/>
              <a:t> detects ambient light conditions and identifies day/night conditions.</a:t>
            </a:r>
            <a:endParaRPr/>
          </a:p>
          <a:p>
            <a:pPr indent="-342900" lvl="0" marL="4953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n-US"/>
              <a:t>Camera/sensor inputs</a:t>
            </a:r>
            <a:r>
              <a:rPr lang="en-US"/>
              <a:t> detect relevant road activity such as vehicles or pedestrians.</a:t>
            </a:r>
            <a:endParaRPr/>
          </a:p>
          <a:p>
            <a:pPr indent="-342900" lvl="0" marL="4953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The </a:t>
            </a:r>
            <a:r>
              <a:rPr b="1" lang="en-US"/>
              <a:t>intelligent detection and decision module</a:t>
            </a:r>
            <a:r>
              <a:rPr lang="en-US"/>
              <a:t> determines which lighting zone requires increased illumination.</a:t>
            </a:r>
            <a:endParaRPr/>
          </a:p>
          <a:p>
            <a:pPr indent="-342900" lvl="0" marL="4953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The </a:t>
            </a:r>
            <a:r>
              <a:rPr b="1" lang="en-US"/>
              <a:t>ESP32 controller</a:t>
            </a:r>
            <a:r>
              <a:rPr lang="en-US"/>
              <a:t> processes the decision and controls the LED street lights.</a:t>
            </a:r>
            <a:endParaRPr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2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Methodology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2" name="Google Shape;162;p22"/>
          <p:cNvSpPr txBox="1"/>
          <p:nvPr>
            <p:ph idx="1" type="body"/>
          </p:nvPr>
        </p:nvSpPr>
        <p:spPr>
          <a:xfrm>
            <a:off x="482600" y="863600"/>
            <a:ext cx="10998200" cy="52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953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The required zone is switched to </a:t>
            </a:r>
            <a:r>
              <a:rPr b="1" lang="en-US"/>
              <a:t>higher brightness</a:t>
            </a:r>
            <a:r>
              <a:rPr lang="en-US"/>
              <a:t>, while other zones remain at </a:t>
            </a:r>
            <a:r>
              <a:rPr b="1" lang="en-US"/>
              <a:t>low-intensity standby.</a:t>
            </a:r>
            <a:endParaRPr/>
          </a:p>
          <a:p>
            <a:pPr indent="-342900" lvl="0" marL="4953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After the moving object passes, the lighting behind it is </a:t>
            </a:r>
            <a:r>
              <a:rPr b="1" lang="en-US"/>
              <a:t>gradually reduced</a:t>
            </a:r>
            <a:r>
              <a:rPr lang="en-US"/>
              <a:t>.</a:t>
            </a:r>
            <a:endParaRPr/>
          </a:p>
          <a:p>
            <a:pPr indent="-342900" lvl="0" marL="4953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Relevant lighting and activity data are stored in the </a:t>
            </a:r>
            <a:r>
              <a:rPr b="1" lang="en-US"/>
              <a:t>cloud</a:t>
            </a:r>
            <a:r>
              <a:rPr lang="en-US"/>
              <a:t> for monitoring and future analysis</a:t>
            </a:r>
            <a:endParaRPr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2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Architecture Diagram</a:t>
            </a:r>
            <a:endParaRPr/>
          </a:p>
        </p:txBody>
      </p:sp>
      <p:sp>
        <p:nvSpPr>
          <p:cNvPr id="168" name="Google Shape;168;p23"/>
          <p:cNvSpPr txBox="1"/>
          <p:nvPr>
            <p:ph idx="1" type="body"/>
          </p:nvPr>
        </p:nvSpPr>
        <p:spPr>
          <a:xfrm>
            <a:off x="822632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69" name="Google Shape;169;p23" title="7bb909d9-eab9-48d0-9119-27f647349a7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4875" y="984300"/>
            <a:ext cx="9082638" cy="51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2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Implementation Progress</a:t>
            </a:r>
            <a:endParaRPr/>
          </a:p>
        </p:txBody>
      </p:sp>
      <p:sp>
        <p:nvSpPr>
          <p:cNvPr id="175" name="Google Shape;175;p24"/>
          <p:cNvSpPr txBox="1"/>
          <p:nvPr>
            <p:ph idx="1" type="body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176" name="Google Shape;176;p24"/>
          <p:cNvGraphicFramePr/>
          <p:nvPr/>
        </p:nvGraphicFramePr>
        <p:xfrm>
          <a:off x="965200" y="1566332"/>
          <a:ext cx="3000000" cy="3000000"/>
        </p:xfrm>
        <a:graphic>
          <a:graphicData uri="http://schemas.openxmlformats.org/drawingml/2006/table">
            <a:tbl>
              <a:tblPr bandRow="1" firstRow="1">
                <a:gradFill>
                  <a:gsLst>
                    <a:gs pos="0">
                      <a:srgbClr val="9FC3FF"/>
                    </a:gs>
                    <a:gs pos="35000">
                      <a:srgbClr val="BDD4FE"/>
                    </a:gs>
                    <a:gs pos="100000">
                      <a:srgbClr val="E3EEFF"/>
                    </a:gs>
                  </a:gsLst>
                  <a:lin ang="16200000" scaled="0"/>
                </a:gradFill>
                <a:tableStyleId>{29C8CEA6-0556-4FF9-A292-E26ED8BECE49}</a:tableStyleId>
              </a:tblPr>
              <a:tblGrid>
                <a:gridCol w="6511625"/>
                <a:gridCol w="3038775"/>
              </a:tblGrid>
              <a:tr h="56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Module</a:t>
                      </a:r>
                      <a:endParaRPr b="1" sz="2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Status</a:t>
                      </a:r>
                      <a:endParaRPr b="1" sz="2800" u="none" cap="none" strike="noStrike"/>
                    </a:p>
                  </a:txBody>
                  <a:tcPr marT="45725" marB="45725" marR="91450" marL="91450" anchor="ctr"/>
                </a:tc>
              </a:tr>
              <a:tr h="56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ESP32-CAM initialization and frame capture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Completed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6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Three-zone adaptive LED control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Completed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6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Camera-based motion detection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Completed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6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L</a:t>
                      </a:r>
                      <a:r>
                        <a:rPr lang="en-US" sz="2400"/>
                        <a:t>DR-based day/night detection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Not </a:t>
                      </a:r>
                      <a:r>
                        <a:rPr lang="en-US" sz="2400" u="none" cap="none" strike="noStrike"/>
                        <a:t>Completed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6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Firebase cloud integration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Not Completed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56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Complete system testing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Not Completed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2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Implementation Progress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2" name="Google Shape;182;p25"/>
          <p:cNvSpPr txBox="1"/>
          <p:nvPr>
            <p:ph idx="1" type="body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953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ESP32-CAM configuration and OV2640 camera interfacing</a:t>
            </a:r>
            <a:endParaRPr/>
          </a:p>
          <a:p>
            <a:pPr indent="-342900" lvl="0" marL="4953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Development of lightweight frame-differencing logic.</a:t>
            </a:r>
            <a:endParaRPr/>
          </a:p>
          <a:p>
            <a:pPr indent="-342900" lvl="0" marL="4953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Division of the camera view into three virtual lighting zones.</a:t>
            </a:r>
            <a:endParaRPr/>
          </a:p>
          <a:p>
            <a:pPr indent="-342900" lvl="0" marL="4953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Design of PWM-based LED brightness control.</a:t>
            </a:r>
            <a:endParaRPr/>
          </a:p>
          <a:p>
            <a:pPr indent="-342900" lvl="0" marL="4953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Integration of LDR sensing and optional Firebase monitoring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type="title"/>
          </p:nvPr>
        </p:nvSpPr>
        <p:spPr>
          <a:xfrm>
            <a:off x="812800" y="130259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2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Implementation Progress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88" name="Google Shape;18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0849" y="1180946"/>
            <a:ext cx="2031495" cy="5070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269" y="2383211"/>
            <a:ext cx="5308600" cy="1993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21994" y="1180946"/>
            <a:ext cx="2279782" cy="5070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2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Individual Contribution</a:t>
            </a:r>
            <a:endParaRPr/>
          </a:p>
        </p:txBody>
      </p:sp>
      <p:graphicFrame>
        <p:nvGraphicFramePr>
          <p:cNvPr id="196" name="Google Shape;196;p27"/>
          <p:cNvGraphicFramePr/>
          <p:nvPr/>
        </p:nvGraphicFramePr>
        <p:xfrm>
          <a:off x="812801" y="12124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{29C8CEA6-0556-4FF9-A292-E26ED8BECE49}</a:tableStyleId>
              </a:tblPr>
              <a:tblGrid>
                <a:gridCol w="1947325"/>
                <a:gridCol w="4013625"/>
                <a:gridCol w="4385300"/>
              </a:tblGrid>
              <a:tr h="863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Student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Modules / Tasks</a:t>
                      </a:r>
                      <a:endParaRPr b="1" sz="20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Work Completed</a:t>
                      </a:r>
                      <a:endParaRPr b="1" sz="2000" u="none" cap="none" strike="noStrike"/>
                    </a:p>
                  </a:txBody>
                  <a:tcPr marT="45725" marB="45725" marR="91450" marL="91450" anchor="ctr"/>
                </a:tc>
              </a:tr>
              <a:tr h="99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Murali M</a:t>
                      </a:r>
                      <a:r>
                        <a:rPr lang="en-US" sz="2000" u="none" cap="none" strike="noStrike"/>
                        <a:t> Naik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Research Paper and Software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Research paper preparation, software development and motion detection logic.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101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Tejas H M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Hardware and System Integration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Hardware</a:t>
                      </a:r>
                      <a:r>
                        <a:rPr lang="en-US" sz="2000" u="none" cap="none" strike="noStrike"/>
                        <a:t> </a:t>
                      </a:r>
                      <a:r>
                        <a:rPr lang="en-US" sz="2000" u="none" cap="none" strike="noStrike"/>
                        <a:t>setup, component connections and initial hardware-software system integration.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90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Mohith B E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Studied ESP32-CAM and Lighting Control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Studied ESP32-CAM, lighting control, zone mapping and assisted with testing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2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Github Link</a:t>
            </a:r>
            <a:endParaRPr/>
          </a:p>
        </p:txBody>
      </p:sp>
      <p:sp>
        <p:nvSpPr>
          <p:cNvPr id="202" name="Google Shape;202;p28"/>
          <p:cNvSpPr txBox="1"/>
          <p:nvPr>
            <p:ph idx="1" type="body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53734"/>
                </a:solidFill>
                <a:latin typeface="Cambria"/>
                <a:ea typeface="Cambria"/>
                <a:cs typeface="Cambria"/>
                <a:sym typeface="Cambria"/>
              </a:rPr>
              <a:t>https://github.com/&lt;your-username&gt;/Automated-Public-Lighting-System</a:t>
            </a:r>
            <a:endParaRPr/>
          </a:p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0" name="Google Shape;210;p29"/>
          <p:cNvSpPr txBox="1"/>
          <p:nvPr>
            <p:ph idx="1" type="body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953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The project aims to develop a low-cost, energy-efficient automated public lighting system using ESP32-CAM and motion detection.</a:t>
            </a:r>
            <a:endParaRPr/>
          </a:p>
          <a:p>
            <a:pPr indent="-342900" lvl="0" marL="4953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The research paper, software development, hardware setup and initial system integration are currently in progress.</a:t>
            </a:r>
            <a:endParaRPr/>
          </a:p>
          <a:p>
            <a:pPr indent="-342900" lvl="0" marL="4953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The proposed system uses camera-based motion detection, LDR sensing and three-zone adaptive lighting to reduce unnecessary energy consumption.</a:t>
            </a:r>
            <a:endParaRPr/>
          </a:p>
          <a:p>
            <a:pPr indent="-342900" lvl="0" marL="4953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The next phase focuses on completing system integration, implementing cloud monitoring and testing the overall prototype.</a:t>
            </a:r>
            <a:endParaRPr/>
          </a:p>
          <a:p>
            <a:pPr indent="-342900" lvl="0" marL="4953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Once completed, the system is expected to provide an intelligent and scalable solution for automated public lighting.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 txBox="1"/>
          <p:nvPr>
            <p:ph idx="1" type="body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90500" lvl="0" marL="3429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>
                <a:latin typeface="Cambria"/>
                <a:ea typeface="Cambria"/>
                <a:cs typeface="Cambria"/>
                <a:sym typeface="Cambria"/>
              </a:rPr>
              <a:t>Add APA / IEEE citation for all references used in the Literature Review: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200">
                <a:latin typeface="Cambria"/>
                <a:ea typeface="Cambria"/>
                <a:cs typeface="Cambria"/>
                <a:sym typeface="Cambria"/>
              </a:rPr>
              <a:t>[1]</a:t>
            </a:r>
            <a:r>
              <a:rPr lang="en-US" sz="120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[1] S. P. Lau, G. V. Merrett, A. S. Weddell, and N. M. White, “A traffic-aware street lighting scheme for Smart Cities using autonomous networked sensors,” </a:t>
            </a:r>
            <a:r>
              <a:rPr i="1" lang="en-US" sz="900">
                <a:latin typeface="Times New Roman"/>
                <a:ea typeface="Times New Roman"/>
                <a:cs typeface="Times New Roman"/>
                <a:sym typeface="Times New Roman"/>
              </a:rPr>
              <a:t>Computers &amp; Electrical Engineering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, vol. 45, pp. 192–207, 2015, doi: 10.1016/j.compeleceng.2015.06.011.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M. Mahoor, Z. S. Hosseini, A. Khodaei, A. Paaso, and D. Kushner, “State-of-the-art in smart streetlight systems: A review,” </a:t>
            </a:r>
            <a:r>
              <a:rPr i="1" lang="en-US" sz="900">
                <a:latin typeface="Times New Roman"/>
                <a:ea typeface="Times New Roman"/>
                <a:cs typeface="Times New Roman"/>
                <a:sym typeface="Times New Roman"/>
              </a:rPr>
              <a:t>IET Smart Cities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, vol. 2, no. 1, pp. 24–33, 2020, doi: 10.1049/iet-smc.2019.0029.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[3] 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A. Omar, S. AlMaeeni, H. Attia, M. Takruri, A. Altunaiji, M. Sanduleanu, R. Shubair, M. S. Ashhab, M. Al Ali, and G. Al Hebsi, “Smart City: Recent Advances in Intelligent Street Lighting Systems Based on IoT,” </a:t>
            </a:r>
            <a:r>
              <a:rPr i="1" lang="en-US" sz="900">
                <a:latin typeface="Times New Roman"/>
                <a:ea typeface="Times New Roman"/>
                <a:cs typeface="Times New Roman"/>
                <a:sym typeface="Times New Roman"/>
              </a:rPr>
              <a:t>Journal of Sensors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, vol. 2022, Art. no. 5249187, 2022, doi: 10.1155/2022/5249187.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[4] 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M. Takruri, K. P. Thulasingam, H. Attia, A. Omar, A. Altunaiji, S. Almaeeni, M. Sanduleanu, R. Shubair, M. S. Ashhab, M. Al Ali, and G. Al Hebsi, “Design and Implementation of a Real-Time Street Light Dimming System Based on a Hybrid Control Architecture,” </a:t>
            </a:r>
            <a:r>
              <a:rPr i="1" lang="en-US" sz="900">
                <a:latin typeface="Times New Roman"/>
                <a:ea typeface="Times New Roman"/>
                <a:cs typeface="Times New Roman"/>
                <a:sym typeface="Times New Roman"/>
              </a:rPr>
              <a:t>International Journal of Distributed Sensor Networks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, vol. 2023, Art. no. 6641563, 2023, doi: 10.1155/2023/6641563.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[5] 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S. Khemakhem and L. Krichen, “A comprehensive survey on an IoT-based smart public street lighting system application for smart cities,” </a:t>
            </a:r>
            <a:r>
              <a:rPr i="1" lang="en-US" sz="900">
                <a:latin typeface="Times New Roman"/>
                <a:ea typeface="Times New Roman"/>
                <a:cs typeface="Times New Roman"/>
                <a:sym typeface="Times New Roman"/>
              </a:rPr>
              <a:t>Franklin Open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, vol. 8, Art. no. 100142, 2024, doi: 10.1016/j.fraope.2024.100142.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6] 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V. Križanović, K. Grgić, A. Pejković, and D. Žagar, “Energy Savings in Public Lighting by Using Adaptive Street Lighting—A Framework for Energy-Savings Assessment and Machine Learning-Based Evaluation,” </a:t>
            </a:r>
            <a:r>
              <a:rPr i="1" lang="en-US" sz="900">
                <a:latin typeface="Times New Roman"/>
                <a:ea typeface="Times New Roman"/>
                <a:cs typeface="Times New Roman"/>
                <a:sym typeface="Times New Roman"/>
              </a:rPr>
              <a:t>Applied Sciences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, vol. 16, no. 16, Art. no. 7917, 2026, doi: 10.3390/app16167917.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[7] 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S. D., V. Sagar K. S., and S. Sushmitha, “A Survey on IOT based Real Time, Smart Adaptive Street Lighting System with Pollution Monitoring for Smart Cities,” </a:t>
            </a:r>
            <a:r>
              <a:rPr i="1" lang="en-US" sz="900">
                <a:latin typeface="Times New Roman"/>
                <a:ea typeface="Times New Roman"/>
                <a:cs typeface="Times New Roman"/>
                <a:sym typeface="Times New Roman"/>
              </a:rPr>
              <a:t>International Journal on Recent and Innovation Trends in Computing and Communication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, vol. 7, no. 1, pp. 21–26, 2019, doi: 10.17762/ijritcc.v7i1.5221.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[8] 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T. E. Achar, C. Rekha, and J. Shreyas, “Smart automated highway lighting system using IoT: A survey,” </a:t>
            </a:r>
            <a:r>
              <a:rPr i="1" lang="en-US" sz="900">
                <a:latin typeface="Times New Roman"/>
                <a:ea typeface="Times New Roman"/>
                <a:cs typeface="Times New Roman"/>
                <a:sym typeface="Times New Roman"/>
              </a:rPr>
              <a:t>International Journal of Electrical and Computer Engineering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, 2024.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[9]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A. F. Mohamed, A. A. Ali, A. Benmouna, H. Ramadan, and N. F. Omran, “IoT-Enabled Smart Street Lighting: A Bibliometric-Driven Review of Energy-Efficient Architectures and Environmental Integration,” </a:t>
            </a:r>
            <a:r>
              <a:rPr i="1" lang="en-US" sz="900">
                <a:latin typeface="Times New Roman"/>
                <a:ea typeface="Times New Roman"/>
                <a:cs typeface="Times New Roman"/>
                <a:sym typeface="Times New Roman"/>
              </a:rPr>
              <a:t>Information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, vol. 17, no. 6, Art. no. 596, 2026, doi: 10.3390/info17060596.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[10] 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S. Lau, G. Merrett, A. Weddell, and N. White, “Energy-efficient adaptive street lighting using networked sensing and intelligent control,” related work on traffic-aware adaptive street lighting, </a:t>
            </a:r>
            <a:r>
              <a:rPr i="1" lang="en-US" sz="900">
                <a:latin typeface="Times New Roman"/>
                <a:ea typeface="Times New Roman"/>
                <a:cs typeface="Times New Roman"/>
                <a:sym typeface="Times New Roman"/>
              </a:rPr>
              <a:t>Computers &amp; Electrical Engineering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, 2015.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6" name="Google Shape;216;p30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References (IEEE Paper format)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2811" y="1441315"/>
            <a:ext cx="3893305" cy="3935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ioinformatics">
  <a:themeElements>
    <a:clrScheme name="Office 2007 - 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